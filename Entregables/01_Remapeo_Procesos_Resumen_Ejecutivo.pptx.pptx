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858A"/>
          </a:solidFill>
          <a:ln w="12700">
            <a:solidFill>
              <a:srgbClr val="2D85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52760" y="292608"/>
            <a:ext cx="1051560" cy="201168"/>
          </a:xfrm>
          <a:prstGeom prst="rect">
            <a:avLst/>
          </a:prstGeom>
          <a:solidFill>
            <a:srgbClr val="FAEED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8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preliminares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5488" y="6547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8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preliminar — sujeto a validación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"/>
            <a:ext cx="3154680" cy="3154680"/>
          </a:xfrm>
          <a:prstGeom prst="ellipse">
            <a:avLst/>
          </a:prstGeom>
          <a:solidFill>
            <a:srgbClr val="263E64">
              <a:alpha val="82000"/>
            </a:srgbClr>
          </a:solidFill>
          <a:ln w="12700">
            <a:solidFill>
              <a:srgbClr val="263E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1051560"/>
            <a:ext cx="1097280" cy="0"/>
          </a:xfrm>
          <a:prstGeom prst="line">
            <a:avLst/>
          </a:prstGeom>
          <a:noFill/>
          <a:ln w="15240">
            <a:solidFill>
              <a:srgbClr val="86A7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005840"/>
            <a:ext cx="109728" cy="109728"/>
          </a:xfrm>
          <a:prstGeom prst="ellipse">
            <a:avLst/>
          </a:prstGeom>
          <a:solidFill>
            <a:srgbClr val="86A7C7"/>
          </a:solidFill>
          <a:ln w="12700">
            <a:solidFill>
              <a:srgbClr val="86A7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1060704"/>
            <a:ext cx="109728" cy="109728"/>
          </a:xfrm>
          <a:prstGeom prst="ellipse">
            <a:avLst/>
          </a:prstGeom>
          <a:solidFill>
            <a:srgbClr val="86A7C7"/>
          </a:solidFill>
          <a:ln w="12700">
            <a:solidFill>
              <a:srgbClr val="86A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1005840"/>
            <a:ext cx="109728" cy="109728"/>
          </a:xfrm>
          <a:prstGeom prst="ellipse">
            <a:avLst/>
          </a:prstGeom>
          <a:solidFill>
            <a:srgbClr val="86A7C7"/>
          </a:solidFill>
          <a:ln w="12700">
            <a:solidFill>
              <a:srgbClr val="86A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984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NOTARÍA — AVANCE DEL LEVANTAMIENTO AS-IS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Remapeo preliminar de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administrativos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operativo, responsabilidades y oportunidades de mejora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5486400" cy="0"/>
          </a:xfrm>
          <a:prstGeom prst="line">
            <a:avLst/>
          </a:prstGeom>
          <a:noFill/>
          <a:ln w="10160">
            <a:solidFill>
              <a:srgbClr val="8191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532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6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Fecha: 7 de agosto de 2026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60120" y="5806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6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del análisis: Arturo Alvarez de la Torre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309360" y="57424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AF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preliminar — sujeto a validación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levantamiento permitió pasar de una lista de funciones a una visión estructurada de la operación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2303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25400" dist="889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8952" y="1581912"/>
            <a:ext cx="164592" cy="164592"/>
          </a:xfrm>
          <a:prstGeom prst="ellipse">
            <a:avLst/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" y="153619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Inventario y clasificación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 actividades administrativas consolidadas, incluyendo tesorería, caja, facturación, RR. HH., plataformas, cumplimiento y soporte.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2303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322580000" dist="112903000" dir="162000000000">
              <a:srgbClr val="000000">
                <a:alpha val="14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2" y="1581912"/>
            <a:ext cx="164592" cy="164592"/>
          </a:xfrm>
          <a:prstGeom prst="ellipse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096" y="153619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Macroprocesos organizados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63640" y="1920240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frentes: tesorería y bancos · caja y control de ventas · facturación y cobranzas · contabilidad y tributos · RR. HH. · plataformas · cumplimiento · TI · compras · mantenimiento.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94360" y="3310128"/>
            <a:ext cx="52303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4096766000000" dist="1433868100000" dir="9720000000000000">
              <a:srgbClr val="000000">
                <a:alpha val="1400000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3474720"/>
            <a:ext cx="164592" cy="164592"/>
          </a:xfrm>
          <a:prstGeom prst="ellipse">
            <a:avLst/>
          </a:prstGeom>
          <a:solidFill>
            <a:srgbClr val="3C9364"/>
          </a:solidFill>
          <a:ln w="12700">
            <a:solidFill>
              <a:srgbClr val="3C93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42900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Levantamiento de la operación real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813048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inicial de actividades + observación directa + entrevistas con la administradora para entender rutina, interrupciones, actores, dependencias y delegaciones recientes.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080760" y="3310128"/>
            <a:ext cx="52303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52028928200000000" dist="1821012487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3474720"/>
            <a:ext cx="164592" cy="164592"/>
          </a:xfrm>
          <a:prstGeom prst="ellipse">
            <a:avLst/>
          </a:prstGeom>
          <a:solidFill>
            <a:srgbClr val="D98929"/>
          </a:solidFill>
          <a:ln w="12700">
            <a:solidFill>
              <a:srgbClr val="D989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342900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Procesos y mejoras priorizadas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3813048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cartera y cobranza · recepción y aplicación de pagos · pagos/cierres como siguientes BPMN · piloto de automatización de cobranzas.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21792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i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levantamiento sigue siendo preliminar: faltan validar tiempos, volúmenes, accesos y responsables definitivos.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administración participa simultáneamente en diez frentes operativos y de control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85800" y="15087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1673352"/>
            <a:ext cx="164592" cy="164592"/>
          </a:xfrm>
          <a:prstGeom prst="ellipse">
            <a:avLst/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813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Tesorería y bancos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· movimientos · conciliación · devoluciones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1673352"/>
            <a:ext cx="164592" cy="164592"/>
          </a:xfrm>
          <a:prstGeom prst="ellipse">
            <a:avLst/>
          </a:prstGeom>
          <a:solidFill>
            <a:srgbClr val="2D858A"/>
          </a:solidFill>
          <a:ln w="12700">
            <a:solidFill>
              <a:srgbClr val="2D85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y control de ventas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201168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Cierres · caja chica · medios de pago · compensaciones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2392" y="1673352"/>
            <a:ext cx="164592" cy="164592"/>
          </a:xfrm>
          <a:prstGeom prst="ellipse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013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cobranzas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201168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Cartera · seguimiento · aplicación de pagos · cierres corporativos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7543800" y="15087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1673352"/>
            <a:ext cx="164592" cy="164592"/>
          </a:xfrm>
          <a:prstGeom prst="ellipse">
            <a:avLst/>
          </a:prstGeom>
          <a:solidFill>
            <a:srgbClr val="D98929"/>
          </a:solidFill>
          <a:ln w="12700">
            <a:solidFill>
              <a:srgbClr val="D989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613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 y tributos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26680" y="201168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Impuestos · SUNAT · detracciones · libros · sustentos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829800" y="15087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94392" y="1673352"/>
            <a:ext cx="164592" cy="164592"/>
          </a:xfrm>
          <a:prstGeom prst="ellipse">
            <a:avLst/>
          </a:prstGeom>
          <a:solidFill>
            <a:srgbClr val="3C9364"/>
          </a:solidFill>
          <a:ln w="12700">
            <a:solidFill>
              <a:srgbClr val="3C93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3213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12680" y="201168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Planillas · contratos · seguros · salud ocupacional · SST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85800" y="297180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3136392"/>
            <a:ext cx="164592" cy="164592"/>
          </a:xfrm>
          <a:prstGeom prst="ellipse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136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notarial y plataformas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474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SUNARP · RENIEC · Migraciones · testimonios · firmas digitales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971800" y="297180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36392" y="3136392"/>
            <a:ext cx="164592" cy="164592"/>
          </a:xfrm>
          <a:prstGeom prst="ellipse">
            <a:avLst/>
          </a:prstGeom>
          <a:solidFill>
            <a:srgbClr val="C25D5D"/>
          </a:solidFill>
          <a:ln w="12700">
            <a:solidFill>
              <a:srgbClr val="C25D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 y reclamos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54680" y="3474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Buzones · SUNAFIL · ONP · GESSOL · reclamos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257800" y="297180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22392" y="3136392"/>
            <a:ext cx="164592" cy="164592"/>
          </a:xfrm>
          <a:prstGeom prst="ellipse">
            <a:avLst/>
          </a:prstGeom>
          <a:solidFill>
            <a:srgbClr val="2D858A"/>
          </a:solidFill>
          <a:ln w="12700">
            <a:solidFill>
              <a:srgbClr val="2D85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136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y soporte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3474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Equipos · red · antivirus · coordinación técnica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543800" y="297180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08392" y="3136392"/>
            <a:ext cx="164592" cy="164592"/>
          </a:xfrm>
          <a:prstGeom prst="ellipse">
            <a:avLst/>
          </a:prstGeom>
          <a:solidFill>
            <a:srgbClr val="3C9364"/>
          </a:solidFill>
          <a:ln w="12700">
            <a:solidFill>
              <a:srgbClr val="3C93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46136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y abastecimiento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26680" y="3474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· insumos · inventarios · proveedores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9829800" y="297180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94392" y="3136392"/>
            <a:ext cx="164592" cy="164592"/>
          </a:xfrm>
          <a:prstGeom prst="ellipse">
            <a:avLst/>
          </a:prstGeom>
          <a:solidFill>
            <a:srgbClr val="29476E"/>
          </a:solidFill>
          <a:ln w="12700">
            <a:solidFill>
              <a:srgbClr val="2947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32136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seguridad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12680" y="3474720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Licencias · ITSE · instalaciones · extintores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069080" y="4553712"/>
            <a:ext cx="4041648" cy="658368"/>
          </a:xfrm>
          <a:prstGeom prst="roundRect">
            <a:avLst>
              <a:gd name="adj" fmla="val 9722"/>
            </a:avLst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471830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actual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60120" y="557784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E7EEF7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6967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variedad de funciones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4709160" y="557784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E6F2E8"/>
          </a:solidFill>
          <a:ln w="12700">
            <a:solidFill>
              <a:srgbClr val="E6F2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56967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9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Múltiples actores y sistemas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458200" y="557784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3DDDA"/>
          </a:solidFill>
          <a:ln w="12700">
            <a:solidFill>
              <a:srgbClr val="F3DD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56967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2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 significativa de una posición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carga administrativa se explica tanto por el volumen de funciones como por interrupciones y dependencias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594360" y="1444752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660767388140000000000" dist="231268585849000000000" dir="3.4992e+25">
              <a:srgbClr val="000000">
                <a:alpha val="1.4e+24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8952" y="1609344"/>
            <a:ext cx="164592" cy="164592"/>
          </a:xfrm>
          <a:prstGeom prst="ellipse">
            <a:avLst/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fragmentado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3136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actividades programadas se interrumpen por consultas, pedidos y urgencias de distintas áreas.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4370832" y="1444752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8.391745829378e+24" dist="2.9371110402823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35424" y="1609344"/>
            <a:ext cx="164592" cy="164592"/>
          </a:xfrm>
          <a:prstGeom prst="ellipse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Concentración de ejecución y control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53712" y="1947672"/>
            <a:ext cx="3136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administradora ejecuta, revisa, coordina, resuelve excepciones y reporta.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147304" y="1444752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.0657517203310059e+29" dist="3.730131021158521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11896" y="1609344"/>
            <a:ext cx="164592" cy="164592"/>
          </a:xfrm>
          <a:prstGeom prst="ellipse">
            <a:avLst/>
          </a:prstGeom>
          <a:solidFill>
            <a:srgbClr val="C25D5D"/>
          </a:solidFill>
          <a:ln w="12700">
            <a:solidFill>
              <a:srgbClr val="C25D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de continuidad operativa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30184" y="1947672"/>
            <a:ext cx="3136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ha identificado todavía un respaldo integral para bancos, conciliaciones, cobranzas y plataformas.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4360" y="3392424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.3535046848203775e+33" dist="4.737266396871322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557016"/>
            <a:ext cx="164592" cy="164592"/>
          </a:xfrm>
          <a:prstGeom prst="ellipse">
            <a:avLst/>
          </a:prstGeom>
          <a:solidFill>
            <a:srgbClr val="D98929"/>
          </a:solidFill>
          <a:ln w="12700">
            <a:solidFill>
              <a:srgbClr val="D989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5112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Delegación reciente en formalización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95344"/>
            <a:ext cx="3136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Diana, Marlon y Gabriel ya asumieron frentes operativos; falta formalizar alcance, evidencias y escalamiento.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370832" y="3392424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.7189509497218795e+37" dist="6.016328324026578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35424" y="3557016"/>
            <a:ext cx="164592" cy="164592"/>
          </a:xfrm>
          <a:prstGeom prst="ellipse">
            <a:avLst/>
          </a:prstGeom>
          <a:solidFill>
            <a:srgbClr val="3C9364"/>
          </a:solidFill>
          <a:ln w="12700">
            <a:solidFill>
              <a:srgbClr val="3C93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5112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Doble revisión en cierres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895344"/>
            <a:ext cx="3136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vuelve a contrastar información de cartera para detectar servicios o contratos omitidos.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147304" y="3392424"/>
            <a:ext cx="350215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2.183067706146787e+41" dist="7.640736971513754e+40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11896" y="3557016"/>
            <a:ext cx="164592" cy="164592"/>
          </a:xfrm>
          <a:prstGeom prst="ellipse">
            <a:avLst/>
          </a:prstGeom>
          <a:solidFill>
            <a:srgbClr val="2D858A"/>
          </a:solidFill>
          <a:ln w="12700">
            <a:solidFill>
              <a:srgbClr val="2D85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5112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y seguimiento dispersos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0184" y="3895344"/>
            <a:ext cx="3136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Sistema, Excel, correo, banca, WhatsApp y archivos físicos dificultan una trazabilidad única.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21792" y="551383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inicial: el foco del rediseño debe estar en el sistema de trabajo y la segregación de responsabilidades, no en una evaluación individual de desempeño.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administración articula la cadena desde el servicio notarial hasta el cierre financiero y contable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8056" y="987552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ejecutivo actualizado de macroprocesos e interacciones</a:t>
            </a:r>
            <a:endParaRPr lang="en-US" sz="920" dirty="0"/>
          </a:p>
        </p:txBody>
      </p:sp>
      <p:pic>
        <p:nvPicPr>
          <p:cNvPr id="4" name="Image 0" descr="/mnt/data/ChatGPT Image 7 ago 2026, 11_37_28 a.m.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508" y="1261872"/>
            <a:ext cx="8459361" cy="5047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Cobranzas y aplicación de pagos concentran trabajo manual, seguimiento y oportunidades de automatización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12648" y="1371600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6DDE6"/>
            </a:solidFill>
            <a:prstDash val="solid"/>
          </a:ln>
          <a:effectLst>
            <a:outerShdw sx="100000" sy="100000" kx="0" ky="0" algn="bl" rotWithShape="0" blurRad="2.7724959868064195e+45" dist="9.703735953822467e+44" dir="1.6325867520000003e+54">
              <a:srgbClr val="000000">
                <a:alpha val="1.4e+54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2648" y="1371600"/>
            <a:ext cx="5285232" cy="420624"/>
          </a:xfrm>
          <a:prstGeom prst="roundRect">
            <a:avLst>
              <a:gd name="adj" fmla="val 10870"/>
            </a:avLst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Gestión de cartera y cobranza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1993392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6654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 a crédito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0" cy="137160"/>
          </a:xfrm>
          <a:prstGeom prst="line">
            <a:avLst/>
          </a:prstGeom>
          <a:noFill/>
          <a:ln w="12700">
            <a:solidFill>
              <a:srgbClr val="386FA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" y="2423160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9631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requisitos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34640" y="2715768"/>
            <a:ext cx="0" cy="137160"/>
          </a:xfrm>
          <a:prstGeom prst="line">
            <a:avLst/>
          </a:prstGeom>
          <a:noFill/>
          <a:ln w="12700">
            <a:solidFill>
              <a:srgbClr val="386FA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" y="2852928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260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Cartera activa y recordatorio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4640" y="3145536"/>
            <a:ext cx="0" cy="137160"/>
          </a:xfrm>
          <a:prstGeom prst="line">
            <a:avLst/>
          </a:prstGeom>
          <a:noFill/>
          <a:ln w="12700">
            <a:solidFill>
              <a:srgbClr val="386FA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3282696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35584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/ compromiso / observación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0" y="3575304"/>
            <a:ext cx="0" cy="137160"/>
          </a:xfrm>
          <a:prstGeom prst="line">
            <a:avLst/>
          </a:prstGeom>
          <a:noFill/>
          <a:ln w="12700">
            <a:solidFill>
              <a:srgbClr val="386FA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3712464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7856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Reiteración y seguimiento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34640" y="4005072"/>
            <a:ext cx="0" cy="137160"/>
          </a:xfrm>
          <a:prstGeom prst="line">
            <a:avLst/>
          </a:prstGeom>
          <a:noFill/>
          <a:ln w="12700">
            <a:solidFill>
              <a:srgbClr val="386FA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" y="4142232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21538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Escalamiento al abogado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34640" y="4434840"/>
            <a:ext cx="0" cy="137160"/>
          </a:xfrm>
          <a:prstGeom prst="line">
            <a:avLst/>
          </a:prstGeom>
          <a:noFill/>
          <a:ln w="12700">
            <a:solidFill>
              <a:srgbClr val="386FA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" y="4572000"/>
            <a:ext cx="374904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6C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6451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Notaria/gerencia para excepciones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68680" y="524865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Oportunidad: cartera única · alertas · bitácora de contactos y compromisos · reglas de escalamiento.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217920" y="1371600"/>
            <a:ext cx="5285232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6DDE6"/>
            </a:solidFill>
            <a:prstDash val="solid"/>
          </a:ln>
          <a:effectLst>
            <a:outerShdw sx="100000" sy="100000" kx="0" ky="0" algn="bl" rotWithShape="0" blurRad="3.5210699032441527e+49" dist="1.2323744661354533e+49" dir="9.795520512000002e+58">
              <a:srgbClr val="000000">
                <a:alpha val="1.4000000000000001e+5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371600"/>
            <a:ext cx="5285232" cy="420624"/>
          </a:xfrm>
          <a:prstGeom prst="roundRect">
            <a:avLst>
              <a:gd name="adj" fmla="val 10870"/>
            </a:avLst>
          </a:prstGeom>
          <a:solidFill>
            <a:srgbClr val="3C9364"/>
          </a:solidFill>
          <a:ln w="12700">
            <a:solidFill>
              <a:srgbClr val="3C93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1481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Recepción y aplicación del pago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65392" y="1993392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0665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registra abono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641080" y="2286000"/>
            <a:ext cx="0" cy="137160"/>
          </a:xfrm>
          <a:prstGeom prst="line">
            <a:avLst/>
          </a:prstGeom>
          <a:noFill/>
          <a:ln w="12700">
            <a:solidFill>
              <a:srgbClr val="3C936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65392" y="2423160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2496312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cliente y comprobante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641080" y="2715768"/>
            <a:ext cx="0" cy="137160"/>
          </a:xfrm>
          <a:prstGeom prst="line">
            <a:avLst/>
          </a:prstGeom>
          <a:noFill/>
          <a:ln w="12700">
            <a:solidFill>
              <a:srgbClr val="3C936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65392" y="2852928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92608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detracción / retención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641080" y="3145536"/>
            <a:ext cx="0" cy="137160"/>
          </a:xfrm>
          <a:prstGeom prst="line">
            <a:avLst/>
          </a:prstGeom>
          <a:noFill/>
          <a:ln w="12700">
            <a:solidFill>
              <a:srgbClr val="3C936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65392" y="3282696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335584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correspondencia con deuda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641080" y="3575304"/>
            <a:ext cx="0" cy="137160"/>
          </a:xfrm>
          <a:prstGeom prst="line">
            <a:avLst/>
          </a:prstGeom>
          <a:noFill/>
          <a:ln w="12700">
            <a:solidFill>
              <a:srgbClr val="3C936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65392" y="3712464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785616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pago o registrar incidencia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641080" y="4005072"/>
            <a:ext cx="0" cy="137160"/>
          </a:xfrm>
          <a:prstGeom prst="line">
            <a:avLst/>
          </a:prstGeom>
          <a:noFill/>
          <a:ln w="12700">
            <a:solidFill>
              <a:srgbClr val="3C936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565392" y="4142232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56832" y="421538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comprobante y cartera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641080" y="4434840"/>
            <a:ext cx="0" cy="137160"/>
          </a:xfrm>
          <a:prstGeom prst="line">
            <a:avLst/>
          </a:prstGeom>
          <a:noFill/>
          <a:ln w="12700">
            <a:solidFill>
              <a:srgbClr val="3C936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565392" y="4572000"/>
            <a:ext cx="4160520" cy="292608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12700">
            <a:solidFill>
              <a:srgbClr val="B7D6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4645152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y confirmar al cliente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73952" y="524865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9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Oportunidad: matching banco–comprobante con bandeja de excepciones y revisión humana.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640080" y="58887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BPMN AS-IS detallados se incluyen en el informe técnico.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modelo operativo propuesto separa decisión, supervisión y ejecución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8056" y="987552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redistribución es progresiva y debe validarse con carga, disponibilidad y puestos</a:t>
            </a:r>
            <a:endParaRPr lang="en-US" sz="920" dirty="0"/>
          </a:p>
        </p:txBody>
      </p:sp>
      <p:pic>
        <p:nvPicPr>
          <p:cNvPr id="4" name="Image 0" descr="/mnt/data/ChatGPT Image 7 ago 2026, 11_46_26 a.m.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137" y="1261872"/>
            <a:ext cx="9033533" cy="50840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F3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continuidad del trabajo combina formalización, respaldo y automatización gradual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1005840" y="1417320"/>
            <a:ext cx="621792" cy="621792"/>
          </a:xfrm>
          <a:prstGeom prst="ellipse">
            <a:avLst/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727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27632" y="1728216"/>
            <a:ext cx="713232" cy="0"/>
          </a:xfrm>
          <a:prstGeom prst="line">
            <a:avLst/>
          </a:prstGeom>
          <a:noFill/>
          <a:ln w="12700">
            <a:solidFill>
              <a:srgbClr val="BCC6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21284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30352" y="2852928"/>
            <a:ext cx="1600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Diana, Marlon y Gabriel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Abogados y estudio contable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Responsables y aprobadores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953512" y="1417320"/>
            <a:ext cx="621792" cy="621792"/>
          </a:xfrm>
          <a:prstGeom prst="ellipse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5727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75304" y="1728216"/>
            <a:ext cx="713232" cy="0"/>
          </a:xfrm>
          <a:prstGeom prst="line">
            <a:avLst/>
          </a:prstGeom>
          <a:noFill/>
          <a:ln w="12700">
            <a:solidFill>
              <a:srgbClr val="BCC6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221284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respaldo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operativo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478024" y="2852928"/>
            <a:ext cx="1600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apoyo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Bancos y conciliaciones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pagos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901184" y="1417320"/>
            <a:ext cx="621792" cy="621792"/>
          </a:xfrm>
          <a:prstGeom prst="ellipse">
            <a:avLst/>
          </a:prstGeom>
          <a:solidFill>
            <a:srgbClr val="D98929"/>
          </a:solidFill>
          <a:ln w="12700">
            <a:solidFill>
              <a:srgbClr val="D989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5727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22976" y="1728216"/>
            <a:ext cx="713232" cy="0"/>
          </a:xfrm>
          <a:prstGeom prst="line">
            <a:avLst/>
          </a:prstGeom>
          <a:noFill/>
          <a:ln w="12700">
            <a:solidFill>
              <a:srgbClr val="BCC6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21284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425696" y="2852928"/>
            <a:ext cx="1600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único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y fecha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y evidencia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848856" y="1417320"/>
            <a:ext cx="621792" cy="621792"/>
          </a:xfrm>
          <a:prstGeom prst="ellipse">
            <a:avLst/>
          </a:prstGeom>
          <a:solidFill>
            <a:srgbClr val="3C9364"/>
          </a:solidFill>
          <a:ln w="12700">
            <a:solidFill>
              <a:srgbClr val="3C93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5727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70648" y="1728216"/>
            <a:ext cx="713232" cy="0"/>
          </a:xfrm>
          <a:prstGeom prst="line">
            <a:avLst/>
          </a:prstGeom>
          <a:noFill/>
          <a:ln w="12700">
            <a:solidFill>
              <a:srgbClr val="BCC6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21284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de cobranzas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373368" y="2852928"/>
            <a:ext cx="1600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Cartera consolidada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Vencimientos y borradores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y compromisos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796528" y="1417320"/>
            <a:ext cx="621792" cy="621792"/>
          </a:xfrm>
          <a:prstGeom prst="ellipse">
            <a:avLst/>
          </a:prstGeom>
          <a:solidFill>
            <a:srgbClr val="2D858A"/>
          </a:solidFill>
          <a:ln w="12700">
            <a:solidFill>
              <a:srgbClr val="2D85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96528" y="15727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18320" y="1728216"/>
            <a:ext cx="713232" cy="0"/>
          </a:xfrm>
          <a:prstGeom prst="line">
            <a:avLst/>
          </a:prstGeom>
          <a:noFill/>
          <a:ln w="12700">
            <a:solidFill>
              <a:srgbClr val="BCC6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21284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Estandarizar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y cierres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321040" y="2852928"/>
            <a:ext cx="1600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diario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Medios de pago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Compensaciones y evidencia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0744200" y="1417320"/>
            <a:ext cx="621792" cy="621792"/>
          </a:xfrm>
          <a:prstGeom prst="ellipse">
            <a:avLst/>
          </a:prstGeom>
          <a:solidFill>
            <a:srgbClr val="29476E"/>
          </a:solidFill>
          <a:ln w="12700">
            <a:solidFill>
              <a:srgbClr val="2947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44200" y="15727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314432" y="221284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Completar AS-IS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243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diseñar TO-BE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0268712" y="2852928"/>
            <a:ext cx="1600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tiempos/volúmenes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ejecutivo</a:t>
            </a:r>
            <a:endParaRPr lang="en-US" sz="720" dirty="0"/>
          </a:p>
          <a:p>
            <a:pPr marL="101600" indent="-101600">
              <a:buSzPct val="100000"/>
              <a:buChar char="•"/>
            </a:pPr>
            <a:r>
              <a:rPr lang="en-US" sz="72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 y manuales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02920" y="4983480"/>
            <a:ext cx="11109960" cy="1078992"/>
          </a:xfrm>
          <a:prstGeom prst="roundRect">
            <a:avLst>
              <a:gd name="adj" fmla="val 4237"/>
            </a:avLst>
          </a:prstGeom>
          <a:solidFill>
            <a:srgbClr val="1F3558"/>
          </a:solidFill>
          <a:ln w="12700">
            <a:solidFill>
              <a:srgbClr val="1F35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2760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desarrollados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926080" y="5148072"/>
            <a:ext cx="1225296" cy="612648"/>
          </a:xfrm>
          <a:prstGeom prst="roundRect">
            <a:avLst>
              <a:gd name="adj" fmla="val 5970"/>
            </a:avLst>
          </a:prstGeom>
          <a:solidFill>
            <a:srgbClr val="314C79"/>
          </a:solidFill>
          <a:ln w="12700">
            <a:solidFill>
              <a:srgbClr val="314C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5321808"/>
            <a:ext cx="1225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y clasificación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4297680" y="5148072"/>
            <a:ext cx="1225296" cy="612648"/>
          </a:xfrm>
          <a:prstGeom prst="roundRect">
            <a:avLst>
              <a:gd name="adj" fmla="val 5970"/>
            </a:avLst>
          </a:prstGeom>
          <a:solidFill>
            <a:srgbClr val="314C79"/>
          </a:solidFill>
          <a:ln w="12700">
            <a:solidFill>
              <a:srgbClr val="314C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5321808"/>
            <a:ext cx="1225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general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5669280" y="5148072"/>
            <a:ext cx="1225296" cy="612648"/>
          </a:xfrm>
          <a:prstGeom prst="roundRect">
            <a:avLst>
              <a:gd name="adj" fmla="val 5970"/>
            </a:avLst>
          </a:prstGeom>
          <a:solidFill>
            <a:srgbClr val="314C79"/>
          </a:solidFill>
          <a:ln w="12700">
            <a:solidFill>
              <a:srgbClr val="314C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5321808"/>
            <a:ext cx="1225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preliminar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7040880" y="5148072"/>
            <a:ext cx="1225296" cy="612648"/>
          </a:xfrm>
          <a:prstGeom prst="roundRect">
            <a:avLst>
              <a:gd name="adj" fmla="val 5970"/>
            </a:avLst>
          </a:prstGeom>
          <a:solidFill>
            <a:srgbClr val="314C79"/>
          </a:solidFill>
          <a:ln w="12700">
            <a:solidFill>
              <a:srgbClr val="314C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5321808"/>
            <a:ext cx="1225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BPMN prioritarios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8412480" y="5148072"/>
            <a:ext cx="1225296" cy="612648"/>
          </a:xfrm>
          <a:prstGeom prst="roundRect">
            <a:avLst>
              <a:gd name="adj" fmla="val 5970"/>
            </a:avLst>
          </a:prstGeom>
          <a:solidFill>
            <a:srgbClr val="314C79"/>
          </a:solidFill>
          <a:ln w="12700">
            <a:solidFill>
              <a:srgbClr val="314C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5321808"/>
            <a:ext cx="1225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9784080" y="5148072"/>
            <a:ext cx="1225296" cy="612648"/>
          </a:xfrm>
          <a:prstGeom prst="roundRect">
            <a:avLst>
              <a:gd name="adj" fmla="val 5970"/>
            </a:avLst>
          </a:prstGeom>
          <a:solidFill>
            <a:srgbClr val="314C79"/>
          </a:solidFill>
          <a:ln w="12700">
            <a:solidFill>
              <a:srgbClr val="314C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84080" y="5321808"/>
            <a:ext cx="1225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+ hoja de ruta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640080" y="62179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fase: TO-BE · dashboard ejecutivo · indicadores · manuales breves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9456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C87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Notaría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Notaría — Remapeo preliminar de procesos administrativos</dc:title>
  <dc:subject>Remapeo preliminar de procesos administrativos</dc:subject>
  <dc:creator>OpenAI</dc:creator>
  <cp:lastModifiedBy>OpenAI</cp:lastModifiedBy>
  <cp:revision>1</cp:revision>
  <dcterms:created xsi:type="dcterms:W3CDTF">2026-08-07T17:10:26Z</dcterms:created>
  <dcterms:modified xsi:type="dcterms:W3CDTF">2026-08-07T17:10:26Z</dcterms:modified>
</cp:coreProperties>
</file>